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sldIdLst>
    <p:sldId id="266" r:id="rId2"/>
    <p:sldId id="257" r:id="rId3"/>
    <p:sldId id="258" r:id="rId4"/>
    <p:sldId id="267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09F571-F7A7-45A6-966B-F9C1C2B66FC8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1AA679-19D4-4F3A-8721-93F77403A4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870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648C-9556-33F5-23BC-B5131B8BE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4E4D7F-57F0-3E2F-BCAA-8FE38ADF2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1CEAD6-9E10-0BBA-4698-3E1AC8AC1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790ED-D523-46BB-A697-F649A84B8C92}" type="datetime1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FC5A23-B92F-4E97-618A-F3DB89728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C1F9D-6D5F-5B24-BACC-EECB2156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006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A7F06-49E4-111A-353D-55B32C75F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E1AC3-18B0-9028-74E1-61F7DCDB86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63EBB-1846-5243-5ACB-AE4B4AC9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FAA1-952F-42DB-815F-0703AA455102}" type="datetime1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51225-37BE-FAF4-92A4-ADE4EB49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10567-DDA8-5179-3EAF-D98C41E7A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4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E692A8-84A4-29AA-6E6B-D5787E8C1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B99FF7-33B2-7768-7C93-059EBA4899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5F025-4289-FE04-073B-3F6AD4035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E473A9-3BEE-459D-8FD2-99EEFBBE80AC}" type="datetime1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D07A9-6728-A34E-822E-586B8BE45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62288-4ABE-66AC-7ECD-35E0AC53C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08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F36E-875D-4926-5E05-160857306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2AB01E-0A58-7781-C0C1-7493DBF358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8728D5-E314-8D9E-F116-B237920AB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26A2F-13A8-5541-7AF2-9678C7895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A7250-7C36-47BA-8767-5858DD08D1B7}" type="datetime1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59FC0B-2272-2BBF-732E-DEB6D7E7E3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E34D2A-23A4-0856-69D2-1ABBC75B3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9119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392B4-B99C-D253-F067-1754998F9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52C3F-07AE-9616-2EFF-F1D04B0A0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63446E-08EB-A557-C68D-5263E78C2E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68961D-DD76-BF27-264A-C250B0DF2A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835D47-18AF-1A7B-F7B6-CB85C5C8D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95B8B2-728F-1097-CDC8-2E0951335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17722-7663-4EE9-A324-86551AF0F422}" type="datetime1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46C4AE-EA63-131A-A27E-0C28C6E33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9E3D8-368E-0104-073B-08B3C5D90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37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8931C-3FB0-12BC-738E-4CC9528DE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26C86B-410A-0B9A-2B42-3CDE26BD8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17422-B01B-483E-A72A-CCEA461AFDF3}" type="datetime1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B0EF7-9653-0145-8DEC-8F8747D9D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36F56A-AFB8-3954-8375-1C7924D06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699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EC02A1-54BB-EE57-89C1-B085E6D03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3B8883-8448-4052-A7D1-8937ABF0442B}" type="datetime1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83BE53-6E17-ADCC-555F-D0326389C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0C55A-F664-1084-C240-FE9B99EB2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4972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3AF94-E863-605B-3451-7C4DA854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FA0D4-B4C5-A6BD-5A0B-F042ED32D8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71B58-AE31-5E72-27EC-B76430FE23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F3072-188A-9197-22F7-A74D28E5C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C0AD9C-BC64-452A-96CB-D72836D7D154}" type="datetime1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D7B067-9253-E779-3359-6F26D613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7BC640-2F09-7099-3958-49DFBF726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05960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9F33B-893B-DD3E-D1A4-127624510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F312C-856B-32D8-6B0F-9826656657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733496-527E-DE63-9EDE-B3ED065FB0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F18C5-A0B0-128D-C428-15766D37D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7D065-DF2C-43F5-9A32-705E878EC10F}" type="datetime1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43EA69-4876-7379-362D-DE98BE0E3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E49C53-CDEB-D196-9DE5-1859441F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780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064C2D-FBE1-E780-0941-535B1C207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115D7-4290-EF7F-0DB5-6DA86CA28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FA09C-2D18-F8E8-57A2-9ECD1FCF1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D236A-470F-4DAC-8E51-886E906931FA}" type="datetime1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FFE405-6E57-0B8D-A0BC-9EC0BA57D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8E4B7-0BC3-B54D-1E58-29E6A0A8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810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9BFACA-70F2-C316-A5E6-6D1599E0F8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FDFAE-E6FE-C1F0-FC0C-892037F7A3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4B92B-8832-D5C6-D086-E90E56BE7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543EEF-208B-482C-A411-9BAEA9EF203B}" type="datetime1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ADB30-7CE0-7059-D988-54E86A8B9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C2ABB3-7915-E465-7DF9-47DF2E9C6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00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293863-66B9-C2D8-6FBE-FEEF0F968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EEF19-4D9B-49B4-99EA-CE7ACB53C1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9B230-8AB5-B6F8-6B51-F69FDA88E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EB32C9-D7E3-428B-AD9F-D5BCE7D08E8F}" type="datetime1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68E1C-AA4F-050F-A211-7D570C125B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DA5CCD-4D86-92C9-C95B-05A93F157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01BD4-2EB4-4C35-9385-55743708AD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8878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26;p5">
            <a:extLst>
              <a:ext uri="{FF2B5EF4-FFF2-40B4-BE49-F238E27FC236}">
                <a16:creationId xmlns:a16="http://schemas.microsoft.com/office/drawing/2014/main" id="{967C4E97-D8C4-3776-AB7E-40FF95DE9FD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30" y="-594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88DEC31-BBC8-F1A0-D7C3-17CDA05D2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2855186"/>
            <a:ext cx="10515600" cy="745716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AI-Based Crop Recommendation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4A8E9-BE1C-0455-AC64-36FC76612A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903396"/>
            <a:ext cx="5181600" cy="1781944"/>
          </a:xfrm>
        </p:spPr>
        <p:txBody>
          <a:bodyPr/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Number: [Enter Batch Number]</a:t>
            </a:r>
          </a:p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pPr lvl="1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Kiruthika Devi M D [23EC057]</a:t>
            </a:r>
          </a:p>
          <a:p>
            <a:pPr lvl="1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 Prakash M [23EC035]</a:t>
            </a:r>
          </a:p>
          <a:p>
            <a:pPr lvl="1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Eswar V [23EC026]</a:t>
            </a:r>
          </a:p>
          <a:p>
            <a:endParaRPr lang="en-IN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00A465-AFAC-8E25-D27E-3F483632D0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3942734"/>
            <a:ext cx="5181600" cy="1074020"/>
          </a:xfrm>
        </p:spPr>
        <p:txBody>
          <a:bodyPr/>
          <a:lstStyle/>
          <a:p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Guided By</a:t>
            </a:r>
          </a:p>
          <a:p>
            <a:pPr lvl="1"/>
            <a:r>
              <a:rPr lang="en-IN" sz="20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Dr.Kalamani</a:t>
            </a: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lvl="1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EC/Professor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0949407-E456-3DF8-999E-FA3AF7367B81}"/>
              </a:ext>
            </a:extLst>
          </p:cNvPr>
          <p:cNvSpPr txBox="1">
            <a:spLocks/>
          </p:cNvSpPr>
          <p:nvPr/>
        </p:nvSpPr>
        <p:spPr>
          <a:xfrm>
            <a:off x="838200" y="1985020"/>
            <a:ext cx="10515600" cy="7457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1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929FCA-6262-FB23-817A-6A94C167563F}"/>
              </a:ext>
            </a:extLst>
          </p:cNvPr>
          <p:cNvSpPr txBox="1">
            <a:spLocks/>
          </p:cNvSpPr>
          <p:nvPr/>
        </p:nvSpPr>
        <p:spPr>
          <a:xfrm>
            <a:off x="319548" y="439364"/>
            <a:ext cx="10515600" cy="13033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60000"/>
              </a:lnSpc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KPR Institute of Engineering and Technology, Coimbatore 641 407</a:t>
            </a:r>
          </a:p>
          <a:p>
            <a:pPr>
              <a:lnSpc>
                <a:spcPct val="160000"/>
              </a:lnSpc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F2BC2E-7244-7E41-CFFE-1AB5DEB60B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232905" cy="987306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664904-3B68-32D8-8F07-E77E03CD5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551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26;p5">
            <a:extLst>
              <a:ext uri="{FF2B5EF4-FFF2-40B4-BE49-F238E27FC236}">
                <a16:creationId xmlns:a16="http://schemas.microsoft.com/office/drawing/2014/main" id="{CC680402-9E35-8F00-1613-8A6F85D7CDB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9" y="-297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D7807D-87FA-9389-83A1-03EDA4AC4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3600" b="1" dirty="0">
                <a:solidFill>
                  <a:srgbClr val="2B4E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Introduction/ Problem Statement/ Objective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6DF29-E8E0-A320-04AC-9B3AA9203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75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Reliance on traditional intuition leads to suboptimal crop selection, without data-driven guidance on soil or climate suitability.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Soil degradation is worsened by improper fertilizer application, causing Nitrogen, Phosphorus and Potassium (N-P-K) imbalance.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Crops unsuited to regional climate conditions cause severe financial losses and reduced yield for farmers.</a:t>
            </a:r>
          </a:p>
          <a:p>
            <a:r>
              <a:rPr lang="en-IN" b="1" i="1" dirty="0">
                <a:solidFill>
                  <a:srgbClr val="2B4E8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Build a data-driven decision support system that recommends the optimal crop using real-time soil nutrient and atmospheric parameters.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68A63B-BF94-0EFE-546F-D52D369B2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054711" cy="84460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184BF56-D696-1E53-3F8A-B9BEB6A2F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745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26;p5">
            <a:extLst>
              <a:ext uri="{FF2B5EF4-FFF2-40B4-BE49-F238E27FC236}">
                <a16:creationId xmlns:a16="http://schemas.microsoft.com/office/drawing/2014/main" id="{5E9DC936-0C72-5C05-0136-0F8D5B3612A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9" y="-297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F8AA42-1897-05C3-0357-1D44EB8E0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C2391D1-0B11-8B61-28B1-D634392CB7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0419825"/>
              </p:ext>
            </p:extLst>
          </p:nvPr>
        </p:nvGraphicFramePr>
        <p:xfrm>
          <a:off x="838200" y="1825625"/>
          <a:ext cx="10515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626">
                  <a:extLst>
                    <a:ext uri="{9D8B030D-6E8A-4147-A177-3AD203B41FA5}">
                      <a16:colId xmlns:a16="http://schemas.microsoft.com/office/drawing/2014/main" val="2175500529"/>
                    </a:ext>
                  </a:extLst>
                </a:gridCol>
                <a:gridCol w="3451614">
                  <a:extLst>
                    <a:ext uri="{9D8B030D-6E8A-4147-A177-3AD203B41FA5}">
                      <a16:colId xmlns:a16="http://schemas.microsoft.com/office/drawing/2014/main" val="12013825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199977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960207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37778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Article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496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[Base Paper — Crop Recommendation using ML]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9105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[Ref — Random Forest for Agri Prediction]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979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[Ref — Soil Nutrient Analysis Systems]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44522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D47B4032-7ADF-CA9D-1F74-EE852D5707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054711" cy="84460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90C98C-B01B-288E-0CF0-8E7087B68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91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723E8-CF9F-4A9C-A5FC-E44AAAD1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26;p5">
            <a:extLst>
              <a:ext uri="{FF2B5EF4-FFF2-40B4-BE49-F238E27FC236}">
                <a16:creationId xmlns:a16="http://schemas.microsoft.com/office/drawing/2014/main" id="{160B83AE-D885-8E14-8266-EE676A2E5B3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9" y="-297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39E8BD-1755-AA79-653F-D5F7E9FAD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F5F6323-551E-0E8E-D7F5-DBC2B309D3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298221"/>
              </p:ext>
            </p:extLst>
          </p:nvPr>
        </p:nvGraphicFramePr>
        <p:xfrm>
          <a:off x="838200" y="1825625"/>
          <a:ext cx="10515600" cy="229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626">
                  <a:extLst>
                    <a:ext uri="{9D8B030D-6E8A-4147-A177-3AD203B41FA5}">
                      <a16:colId xmlns:a16="http://schemas.microsoft.com/office/drawing/2014/main" val="2175500529"/>
                    </a:ext>
                  </a:extLst>
                </a:gridCol>
                <a:gridCol w="3451614">
                  <a:extLst>
                    <a:ext uri="{9D8B030D-6E8A-4147-A177-3AD203B41FA5}">
                      <a16:colId xmlns:a16="http://schemas.microsoft.com/office/drawing/2014/main" val="120138251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81999772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29602077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337778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Article and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3496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[Ref — IoT-based Precision Agriculture]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31513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[Ref — Full-Stack Agri-Tech Dashboards]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2616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[Ref — Weather-Integrated Crop Advisory]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870962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49B80C88-4FEE-F3DF-CC1C-F1A873E9B9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054711" cy="84460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49E2DC-C4E2-6352-C357-A705A4690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118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26;p5">
            <a:extLst>
              <a:ext uri="{FF2B5EF4-FFF2-40B4-BE49-F238E27FC236}">
                <a16:creationId xmlns:a16="http://schemas.microsoft.com/office/drawing/2014/main" id="{EBC925AA-26B3-F2F1-2CDC-E1118F8EA63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9" y="-297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0969E4-0B1C-45C1-C823-6C75CB7F0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 and Software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FDCF0E-3E30-27AD-44A8-EBE7F7EB9B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Laptop/PC — 1 — ML training &amp; full-stack dev — Available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Zero 2 W — 1 — IoT telemetry gateway — To be Purchased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RS485 Modbus Soil NPK Sensor — 1 — measures N, P, K — To be Purchased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DHT22 Sensor — 1 — air temperature &amp; humidity — To be Purchased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Analog Soil pH &amp; Moisture Probe — 1 — soil pH/moisture — To be Purchased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4D24B-755B-52DA-05AC-9E8BB33E91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Components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React.js + Vite + CSS3 (SPA dashboard)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API: Node.js &amp; Express.js (REST API, JWT auth, PostgreSQL)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Engine: Python + Flask + Scikit-Learn (Random Forest API)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PostgreSQL (Users, Predictions, History)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IDE/Tools: VS Code, Postman, Git &amp; GitHub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D577AC-8A7D-44A3-519D-1F8039667D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054711" cy="844609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550B0F-89D8-516B-CC0B-EBC6B31B1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8557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26;p5">
            <a:extLst>
              <a:ext uri="{FF2B5EF4-FFF2-40B4-BE49-F238E27FC236}">
                <a16:creationId xmlns:a16="http://schemas.microsoft.com/office/drawing/2014/main" id="{04AA956A-34C0-D375-E646-7D664109739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9" y="-297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295EB2-930E-C0AF-E5D0-AD7446475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Implementation /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5F621-0F9C-E880-2E75-2552CFD86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of 2,200 agricultural samples across 22 crop categories collected and preprocessed. Random Forest Classifier (100 trees, max depth 15) trained and validated, achieving 99.3% accuracy. Flask ML inference API built and tested locally. React frontend and Express/PostgreSQL backend scaffolded, with JWT authentication and core prediction form implemented.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70A5B0-047B-EE95-337B-AA4A1302BA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054711" cy="84460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06239F-665B-8AE7-88BD-98A137908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9328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26;p5">
            <a:extLst>
              <a:ext uri="{FF2B5EF4-FFF2-40B4-BE49-F238E27FC236}">
                <a16:creationId xmlns:a16="http://schemas.microsoft.com/office/drawing/2014/main" id="{3D35845E-94DD-81B2-F3FF-A27793DC10A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9" y="-594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C352E-B6A6-8D75-8CB1-7280E42D7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 / Flow Diagram/ Circuit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77771-8DE0-E1B7-6F07-F5FD50EB8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500000"/>
          </a:xfrm>
        </p:spPr>
        <p:txBody>
          <a:bodyPr>
            <a:normAutofit/>
          </a:bodyPr>
          <a:lstStyle/>
          <a:p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data flow from user input to prediction and back, with the IoT sensor extension shown below.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476CEC-50E2-8621-5905-C5A792BC0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054711" cy="84460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A8CF42-E6E9-2B30-E081-5773552EF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7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50B4B-E7B6-2390-B7F9-53BFF6BB6D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5996" y="1948262"/>
            <a:ext cx="6952635" cy="4243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37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26;p5">
            <a:extLst>
              <a:ext uri="{FF2B5EF4-FFF2-40B4-BE49-F238E27FC236}">
                <a16:creationId xmlns:a16="http://schemas.microsoft.com/office/drawing/2014/main" id="{6668BFD3-CD38-48F2-3726-5BD9C4B55B3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9" y="-297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08C7C3-D003-5418-68C5-B9B1CA0CF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Results / Evidence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1878C-F3F1-9415-5A0F-1B4ACEE2D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 results: 99.3% prediction accuracy on the held-out test set across all 22 crop categories. [Insert confusion matrix, accuracy graph, or dashboard screenshots here]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90C38-7C01-73D1-1067-A2C3EC5268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054711" cy="84460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FD1CAD3-3B63-8449-3472-3852C45CC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0171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26;p5">
            <a:extLst>
              <a:ext uri="{FF2B5EF4-FFF2-40B4-BE49-F238E27FC236}">
                <a16:creationId xmlns:a16="http://schemas.microsoft.com/office/drawing/2014/main" id="{FC7D4CDF-E5A5-D135-B16E-66BFB8AB91C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9" y="-297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1AEB9A-9F2C-A0E1-D521-1EBEC017D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0A886-5E4D-5B0D-E090-D7B664E7E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JWT-protected /api/predict and /api/history endpoints; build History Table and User Profile Modal; integrate Weather API for auto-fetched rainfall/temperature; begin Raspberry Pi + sensor hardware integration; conduct end-to-end system testing.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 1: Backend endpoints, History &amp; Profile UI, Weather API integration. Month 2: Hardware sensor integration, end-to-end testing, deployment &amp; documentation.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831212-1D25-63B8-9092-035848EC2C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054711" cy="84460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E925BC-FE03-914A-01C0-9E8E804B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36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26;p5">
            <a:extLst>
              <a:ext uri="{FF2B5EF4-FFF2-40B4-BE49-F238E27FC236}">
                <a16:creationId xmlns:a16="http://schemas.microsoft.com/office/drawing/2014/main" id="{B10EE461-5FA4-47E7-BDE5-B78F7F6922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9" y="-297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742855F-D21E-3EFB-B5C8-3231BBD50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E4AE1-CBF2-B120-500F-A4BF946BC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this stage, the core ML model (Random Forest, 99.3% accuracy) has been trained on 2,200 samples across 22 crops, and the foundational full-stack architecture (React + Express + PostgreSQL + Flask) is operational. The system empowers farmers and agronomists with data-backed crop choices to maximize yield and preserve soil health, with authentication, IoT sensor integration, and mobile support planned as future enhancements.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E4418CC-66C2-6315-67AD-61B6741BA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054711" cy="84460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D376A25-3373-BF0E-B8D3-757E9ACFE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603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oogle Shape;126;p5">
            <a:extLst>
              <a:ext uri="{FF2B5EF4-FFF2-40B4-BE49-F238E27FC236}">
                <a16:creationId xmlns:a16="http://schemas.microsoft.com/office/drawing/2014/main" id="{0D89E810-5E13-6F27-32C3-D0A1ABB6947A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529" y="-297"/>
            <a:ext cx="12193057" cy="68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9883B8-7786-00E1-3FC9-B6802F26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5804D-17C4-602D-49AC-2F64B972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[Author(s)], "[Base paper title on crop recommendation systems]," [Journal/Conference], [Year]. (Insert IEEE citation)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[Author(s)], "[Reference on Random Forest for agriculture]," [Journal/Conference], [Year].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[Author(s)], "[Reference on soil nutrient / NPK sensing]," [Journal/Conference], [Year].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[Author(s)], "[Reference on PERN/MERN stack agri-tech systems]," [Journal/Conference], [Year].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[Author(s)], "[Reference on IoT-based precision agriculture]," [Journal/Conference], [Year].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[All References should be in IEEE Reference Format]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27C68F-9741-0C91-A050-8118D0A2EB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0352" y="655882"/>
            <a:ext cx="1054711" cy="844609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0CA9027-57D8-7141-38D7-B0F0ED7F0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01BD4-2EB4-4C35-9385-55743708AD0B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5862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797</Words>
  <Application>Microsoft Office PowerPoint</Application>
  <PresentationFormat>Widescreen</PresentationFormat>
  <Paragraphs>84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Times New Roman</vt:lpstr>
      <vt:lpstr>Office Theme</vt:lpstr>
      <vt:lpstr>AI-Based Crop Recommendation System</vt:lpstr>
      <vt:lpstr>Introduction/ Problem Statement/ Objective</vt:lpstr>
      <vt:lpstr>Literature Survey</vt:lpstr>
      <vt:lpstr>Literature Survey</vt:lpstr>
      <vt:lpstr>Hardware Components and Software Requirements</vt:lpstr>
      <vt:lpstr>Current Implementation / Progress</vt:lpstr>
      <vt:lpstr>Block Diagram / Flow Diagram/ Circuit Diagram</vt:lpstr>
      <vt:lpstr>Initial Results / Evidence</vt:lpstr>
      <vt:lpstr>Work Plan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 NIVAS DURAISAMY</dc:creator>
  <cp:lastModifiedBy>Eswar V</cp:lastModifiedBy>
  <cp:revision>2</cp:revision>
  <dcterms:created xsi:type="dcterms:W3CDTF">2026-09-08T04:35:55Z</dcterms:created>
  <dcterms:modified xsi:type="dcterms:W3CDTF">2026-09-14T16:30:58Z</dcterms:modified>
</cp:coreProperties>
</file>